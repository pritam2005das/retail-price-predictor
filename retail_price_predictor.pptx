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66" r:id="rId3"/>
    <p:sldId id="267" r:id="rId4"/>
    <p:sldId id="257" r:id="rId5"/>
    <p:sldId id="259" r:id="rId6"/>
    <p:sldId id="260" r:id="rId7"/>
    <p:sldId id="261" r:id="rId8"/>
    <p:sldId id="270" r:id="rId9"/>
    <p:sldId id="271" r:id="rId10"/>
    <p:sldId id="272" r:id="rId11"/>
    <p:sldId id="262" r:id="rId12"/>
    <p:sldId id="264" r:id="rId13"/>
    <p:sldId id="265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5" d="100"/>
          <a:sy n="75" d="100"/>
        </p:scale>
        <p:origin x="8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9C862-2DC6-4FEC-B0C4-D550A391FBF3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8B1FE-8583-47FC-ABBE-25DF4B74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454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8B1FE-8583-47FC-ABBE-25DF4B74C1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207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33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03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8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89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66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08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72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56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43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63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32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56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6968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667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784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64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2FC51-379C-4A02-9747-E143B9C1060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962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github.com/pritam2005das/Retail-Price-Predictor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pritam2005das-retail-price-predictor.streamlit.app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forms.gle/MQR723LHpVXSv1ta7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D36D-4773-4569-3253-E339E2AC9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Retain Price Prediction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64692-47BD-ACAA-440E-07BE764C0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Pritam Das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91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7F9E39-5B98-EE54-7900-57F78A5A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82A9C-B047-33A8-6067-069457EF7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10743"/>
            <a:ext cx="7188095" cy="576262"/>
          </a:xfrm>
        </p:spPr>
        <p:txBody>
          <a:bodyPr/>
          <a:lstStyle/>
          <a:p>
            <a:r>
              <a:rPr lang="en-US" b="1" dirty="0"/>
              <a:t>Title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FB938-D19C-1666-8183-B87194A98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087005"/>
            <a:ext cx="7188095" cy="4293475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dirty="0"/>
              <a:t>Objective</a:t>
            </a:r>
          </a:p>
          <a:p>
            <a:pPr marL="0" indent="0" fontAlgn="base">
              <a:buNone/>
            </a:pPr>
            <a:r>
              <a:rPr lang="en-US" dirty="0"/>
              <a:t>Data Source</a:t>
            </a:r>
          </a:p>
          <a:p>
            <a:pPr marL="0" indent="0" fontAlgn="base">
              <a:buNone/>
            </a:pPr>
            <a:r>
              <a:rPr lang="en-US" dirty="0"/>
              <a:t>Technologies used</a:t>
            </a:r>
          </a:p>
          <a:p>
            <a:pPr marL="0" indent="0" fontAlgn="base">
              <a:buNone/>
            </a:pPr>
            <a:r>
              <a:rPr lang="en-US" dirty="0"/>
              <a:t>Methodology</a:t>
            </a:r>
          </a:p>
          <a:p>
            <a:pPr marL="0" indent="0" fontAlgn="base">
              <a:buNone/>
            </a:pPr>
            <a:r>
              <a:rPr lang="en-US" dirty="0"/>
              <a:t>Model performance</a:t>
            </a:r>
          </a:p>
          <a:p>
            <a:pPr marL="0" indent="0" fontAlgn="base">
              <a:buNone/>
            </a:pPr>
            <a:r>
              <a:rPr lang="en-US" dirty="0"/>
              <a:t>Mean Absolute Error Comparison</a:t>
            </a:r>
          </a:p>
          <a:p>
            <a:pPr marL="0" indent="0" fontAlgn="base">
              <a:buNone/>
            </a:pPr>
            <a:r>
              <a:rPr lang="en-US" dirty="0"/>
              <a:t>Root Mean Squared Error Comparison</a:t>
            </a:r>
          </a:p>
          <a:p>
            <a:pPr marL="0" indent="0" fontAlgn="base">
              <a:buNone/>
            </a:pPr>
            <a:r>
              <a:rPr lang="en-US" dirty="0"/>
              <a:t>R2 Score Comparison</a:t>
            </a:r>
          </a:p>
          <a:p>
            <a:pPr marL="0" indent="0" fontAlgn="base">
              <a:buNone/>
            </a:pPr>
            <a:r>
              <a:rPr lang="en-US" dirty="0" err="1"/>
              <a:t>Streamlit</a:t>
            </a:r>
            <a:r>
              <a:rPr lang="en-US" dirty="0"/>
              <a:t> app</a:t>
            </a:r>
          </a:p>
          <a:p>
            <a:pPr marL="0" indent="0" fontAlgn="base">
              <a:buNone/>
            </a:pPr>
            <a:r>
              <a:rPr lang="en-US" dirty="0"/>
              <a:t>Conclusion</a:t>
            </a:r>
          </a:p>
          <a:p>
            <a:pPr marL="0" indent="0" fontAlgn="base">
              <a:buNone/>
            </a:pPr>
            <a:r>
              <a:rPr lang="en-US" dirty="0"/>
              <a:t>Future scope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4C276-8CA1-8F35-4A05-782A30B5F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34960" y="1510743"/>
            <a:ext cx="1339041" cy="576262"/>
          </a:xfrm>
        </p:spPr>
        <p:txBody>
          <a:bodyPr/>
          <a:lstStyle/>
          <a:p>
            <a:r>
              <a:rPr lang="en-US" b="1" dirty="0"/>
              <a:t>Slide No</a:t>
            </a:r>
            <a:endParaRPr lang="en-IN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721573-7575-9154-D4F7-2EA7F16FB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34961" y="2087005"/>
            <a:ext cx="1339041" cy="42934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4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pPr marL="0" indent="0">
              <a:buNone/>
            </a:pPr>
            <a:r>
              <a:rPr lang="en-US" dirty="0"/>
              <a:t>6</a:t>
            </a:r>
          </a:p>
          <a:p>
            <a:pPr marL="0" indent="0">
              <a:buNone/>
            </a:pPr>
            <a:r>
              <a:rPr lang="en-US" dirty="0"/>
              <a:t>7</a:t>
            </a:r>
          </a:p>
          <a:p>
            <a:pPr marL="0" indent="0">
              <a:buNone/>
            </a:pPr>
            <a:r>
              <a:rPr lang="en-US" dirty="0"/>
              <a:t>8</a:t>
            </a:r>
          </a:p>
          <a:p>
            <a:pPr marL="0" indent="0">
              <a:buNone/>
            </a:pPr>
            <a:r>
              <a:rPr lang="en-US" dirty="0"/>
              <a:t>9</a:t>
            </a:r>
          </a:p>
          <a:p>
            <a:pPr marL="0" indent="0">
              <a:buNone/>
            </a:pPr>
            <a:r>
              <a:rPr lang="en-US" dirty="0"/>
              <a:t>10</a:t>
            </a:r>
          </a:p>
          <a:p>
            <a:pPr marL="0" indent="0">
              <a:buNone/>
            </a:pPr>
            <a:r>
              <a:rPr lang="en-US" dirty="0"/>
              <a:t>11</a:t>
            </a:r>
          </a:p>
          <a:p>
            <a:pPr marL="0" indent="0">
              <a:buNone/>
            </a:pPr>
            <a:r>
              <a:rPr lang="en-US" dirty="0"/>
              <a:t>12</a:t>
            </a:r>
          </a:p>
          <a:p>
            <a:pPr marL="0" indent="0">
              <a:buNone/>
            </a:pPr>
            <a:r>
              <a:rPr lang="en-US" dirty="0"/>
              <a:t>13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704E8E-7AC2-1E22-A596-ED38F3E3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AC1381-A3B7-84AB-17A4-F1E78FFAF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Develop a machine learning model to accurately determine optimal pricing for retail products by analyzing historical sales data, competitor pricing, and product-specific factors.</a:t>
            </a:r>
          </a:p>
          <a:p>
            <a:pPr fontAlgn="base"/>
            <a:r>
              <a:rPr lang="en-US" dirty="0"/>
              <a:t>Identify key demand, temporal, and competitive patterns influencing price sensitivity to enhance profitability and market competitiveness.</a:t>
            </a:r>
          </a:p>
          <a:p>
            <a:pPr fontAlgn="base"/>
            <a:r>
              <a:rPr lang="en-US" dirty="0"/>
              <a:t>Support retail managers in making data-driven pricing decisions that balance revenue growth, customer retention, and inventory efficiency.</a:t>
            </a:r>
          </a:p>
          <a:p>
            <a:pPr fontAlgn="base"/>
            <a:r>
              <a:rPr lang="en-US" dirty="0"/>
              <a:t>Enable informed strategic planning for dynamic pricing, promotional design, and long-term business sustainability through predictive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08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4B81-6873-B917-DA4E-E2AD2649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8C2E-7364-02A1-2D61-8C384948B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1761"/>
            <a:ext cx="8596668" cy="4866639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Dataset:</a:t>
            </a:r>
          </a:p>
          <a:p>
            <a:pPr marL="400050" lvl="1" indent="0">
              <a:buNone/>
            </a:pPr>
            <a:r>
              <a:rPr lang="en-US" sz="1800" b="1" dirty="0"/>
              <a:t>ret</a:t>
            </a:r>
            <a:r>
              <a:rPr lang="en-IN" sz="1800" b="1" dirty="0" err="1"/>
              <a:t>ail_price</a:t>
            </a:r>
            <a:r>
              <a:rPr lang="en-US" sz="1800" b="1" dirty="0"/>
              <a:t>.csv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Contains power consumption records like:</a:t>
            </a:r>
          </a:p>
          <a:p>
            <a:pPr lvl="1" fontAlgn="base"/>
            <a:r>
              <a:rPr lang="en-US" altLang="en-US" sz="1800" b="1" dirty="0"/>
              <a:t>Date: </a:t>
            </a:r>
            <a:r>
              <a:rPr lang="en-US" altLang="en-US" sz="1800" dirty="0"/>
              <a:t>Transaction or observation timestamp</a:t>
            </a:r>
          </a:p>
          <a:p>
            <a:pPr lvl="1" fontAlgn="base"/>
            <a:r>
              <a:rPr lang="en-US" altLang="en-US" sz="1800" b="1" dirty="0" err="1"/>
              <a:t>Product_ID</a:t>
            </a:r>
            <a:r>
              <a:rPr lang="en-US" altLang="en-US" sz="1800" b="1" dirty="0"/>
              <a:t>: </a:t>
            </a:r>
            <a:r>
              <a:rPr lang="en-US" altLang="en-US" sz="1800" dirty="0"/>
              <a:t>Unique identifier for each product</a:t>
            </a:r>
          </a:p>
          <a:p>
            <a:pPr lvl="1" fontAlgn="base"/>
            <a:r>
              <a:rPr lang="en-US" altLang="en-US" sz="1800" b="1" dirty="0" err="1"/>
              <a:t>Product_Category</a:t>
            </a:r>
            <a:r>
              <a:rPr lang="en-US" altLang="en-US" sz="1800" b="1" dirty="0"/>
              <a:t>: </a:t>
            </a:r>
            <a:r>
              <a:rPr lang="en-US" altLang="en-US" sz="1800" dirty="0"/>
              <a:t>Category or type of retail product</a:t>
            </a:r>
          </a:p>
          <a:p>
            <a:pPr lvl="1" fontAlgn="base"/>
            <a:r>
              <a:rPr lang="en-US" altLang="en-US" sz="1800" b="1" dirty="0" err="1"/>
              <a:t>Store_ID</a:t>
            </a:r>
            <a:r>
              <a:rPr lang="en-US" altLang="en-US" sz="1800" b="1" dirty="0"/>
              <a:t>: </a:t>
            </a:r>
            <a:r>
              <a:rPr lang="en-US" altLang="en-US" sz="1800" dirty="0"/>
              <a:t>Unique code representing different stores or outlets</a:t>
            </a:r>
          </a:p>
          <a:p>
            <a:pPr lvl="1" fontAlgn="base"/>
            <a:r>
              <a:rPr lang="en-US" altLang="en-US" sz="1800" b="1" dirty="0"/>
              <a:t>Price: </a:t>
            </a:r>
            <a:r>
              <a:rPr lang="en-US" altLang="en-US" sz="1800" dirty="0"/>
              <a:t>Selling price of the product at a given time</a:t>
            </a:r>
          </a:p>
          <a:p>
            <a:pPr lvl="1" fontAlgn="base"/>
            <a:r>
              <a:rPr lang="en-US" altLang="en-US" sz="1800" b="1" dirty="0" err="1"/>
              <a:t>Units_Sold</a:t>
            </a:r>
            <a:r>
              <a:rPr lang="en-US" altLang="en-US" sz="1800" b="1" dirty="0"/>
              <a:t>: </a:t>
            </a:r>
            <a:r>
              <a:rPr lang="en-US" altLang="en-US" sz="1800" dirty="0"/>
              <a:t>Number of units sold during the period</a:t>
            </a:r>
          </a:p>
          <a:p>
            <a:pPr lvl="1" fontAlgn="base"/>
            <a:r>
              <a:rPr lang="en-US" altLang="en-US" sz="1800" b="1" dirty="0" err="1"/>
              <a:t>Competitor_Price</a:t>
            </a:r>
            <a:r>
              <a:rPr lang="en-US" altLang="en-US" sz="1800" b="1" dirty="0"/>
              <a:t>: </a:t>
            </a:r>
            <a:r>
              <a:rPr lang="en-US" altLang="en-US" sz="1800" dirty="0"/>
              <a:t>Average competitor price for the same or similar product</a:t>
            </a:r>
          </a:p>
          <a:p>
            <a:pPr lvl="1" fontAlgn="base"/>
            <a:r>
              <a:rPr lang="en-US" altLang="en-US" sz="1800" b="1" dirty="0"/>
              <a:t>Cost: </a:t>
            </a:r>
            <a:r>
              <a:rPr lang="en-US" altLang="en-US" sz="1800" dirty="0"/>
              <a:t>Procurement or manufacturing cost of the product</a:t>
            </a:r>
          </a:p>
          <a:p>
            <a:pPr lvl="1" fontAlgn="base"/>
            <a:r>
              <a:rPr lang="en-US" altLang="en-US" sz="1800" b="1" dirty="0"/>
              <a:t>Promotion: </a:t>
            </a:r>
            <a:r>
              <a:rPr lang="en-US" altLang="en-US" sz="1800" dirty="0"/>
              <a:t>Indicates whether a promotional offer or discount was active</a:t>
            </a:r>
          </a:p>
          <a:p>
            <a:pPr lvl="1" fontAlgn="base"/>
            <a:r>
              <a:rPr lang="en-US" altLang="en-US" sz="1800" b="1" dirty="0"/>
              <a:t>Revenue: </a:t>
            </a:r>
            <a:r>
              <a:rPr lang="en-US" altLang="en-US" sz="1800" dirty="0"/>
              <a:t>Total revenue generated (Price × </a:t>
            </a:r>
            <a:r>
              <a:rPr lang="en-US" altLang="en-US" sz="1800" dirty="0" err="1"/>
              <a:t>Units_Sold</a:t>
            </a:r>
            <a:r>
              <a:rPr lang="en-US" altLang="en-US" sz="1800" dirty="0"/>
              <a:t>)</a:t>
            </a:r>
          </a:p>
          <a:p>
            <a:pPr lvl="1" fontAlgn="base"/>
            <a:r>
              <a:rPr lang="en-US" altLang="en-US" sz="1800" b="1" dirty="0" err="1"/>
              <a:t>Lag_Price</a:t>
            </a:r>
            <a:r>
              <a:rPr lang="en-US" altLang="en-US" sz="1800" b="1" dirty="0"/>
              <a:t>: </a:t>
            </a:r>
            <a:r>
              <a:rPr lang="en-US" altLang="en-US" sz="1800" dirty="0"/>
              <a:t>Previous period’s price used as the target variable for price prediction</a:t>
            </a:r>
          </a:p>
        </p:txBody>
      </p:sp>
    </p:spTree>
    <p:extLst>
      <p:ext uri="{BB962C8B-B14F-4D97-AF65-F5344CB8AC3E}">
        <p14:creationId xmlns:p14="http://schemas.microsoft.com/office/powerpoint/2010/main" val="349592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253A-04E7-8E9F-C5BA-D91A7A32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0140E-F3D3-EB4E-0395-8EE595CE0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en-US" b="1" dirty="0"/>
              <a:t>Python: </a:t>
            </a:r>
            <a:r>
              <a:rPr lang="en-US" altLang="en-US" dirty="0"/>
              <a:t>Data preprocessing, model experimentation </a:t>
            </a:r>
            <a:r>
              <a:rPr lang="en-US" dirty="0"/>
              <a:t>and UI design</a:t>
            </a:r>
            <a:endParaRPr lang="en-US" altLang="en-US" dirty="0"/>
          </a:p>
          <a:p>
            <a:pPr fontAlgn="base"/>
            <a:r>
              <a:rPr lang="en-US" altLang="en-US" b="1" dirty="0" err="1"/>
              <a:t>Jupyter</a:t>
            </a:r>
            <a:r>
              <a:rPr lang="en-US" altLang="en-US" b="1" dirty="0"/>
              <a:t> Notebook: </a:t>
            </a:r>
            <a:r>
              <a:rPr lang="en-US" altLang="en-US" dirty="0"/>
              <a:t>For model development (</a:t>
            </a:r>
            <a:r>
              <a:rPr lang="en-IN" dirty="0" err="1"/>
              <a:t>model.ipynb</a:t>
            </a:r>
            <a:r>
              <a:rPr lang="en-US" altLang="en-US" dirty="0"/>
              <a:t>)</a:t>
            </a:r>
          </a:p>
          <a:p>
            <a:r>
              <a:rPr lang="en-US" altLang="en-US" b="1" dirty="0"/>
              <a:t>Machine Learning: </a:t>
            </a:r>
            <a:r>
              <a:rPr lang="en-US" dirty="0"/>
              <a:t>Linear Regression, Ridge Classification, Decision Trees, Random Forest, Gradient Boosting, Ada Boosting,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Support Vector Machine for predicting </a:t>
            </a:r>
            <a:r>
              <a:rPr lang="en-US" dirty="0" err="1"/>
              <a:t>lag_price</a:t>
            </a:r>
            <a:endParaRPr lang="en-US" dirty="0"/>
          </a:p>
          <a:p>
            <a:pPr fontAlgn="base"/>
            <a:r>
              <a:rPr lang="en-US" altLang="en-US" b="1" dirty="0"/>
              <a:t>Power BI: </a:t>
            </a:r>
            <a:r>
              <a:rPr lang="en-US" altLang="en-US" dirty="0"/>
              <a:t>Data visualization and interactive dashboard (</a:t>
            </a:r>
            <a:r>
              <a:rPr lang="en-US" altLang="en-US" dirty="0" err="1"/>
              <a:t>retail_price_dashboard.pbix</a:t>
            </a:r>
            <a:r>
              <a:rPr lang="en-US" altLang="en-US" dirty="0"/>
              <a:t>)</a:t>
            </a:r>
          </a:p>
          <a:p>
            <a:pPr fontAlgn="base"/>
            <a:r>
              <a:rPr lang="en-US" altLang="en-US" b="1" dirty="0"/>
              <a:t>Libraries Used: </a:t>
            </a:r>
            <a:r>
              <a:rPr lang="en-US" altLang="en-US" dirty="0"/>
              <a:t>pandas, </a:t>
            </a:r>
            <a:r>
              <a:rPr lang="en-US" altLang="en-US" dirty="0" err="1"/>
              <a:t>numpy</a:t>
            </a:r>
            <a:r>
              <a:rPr lang="en-US" altLang="en-US" dirty="0"/>
              <a:t>, scikit-learn, matplotlib, seaborn,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altLang="en-US" dirty="0"/>
              <a:t>, </a:t>
            </a:r>
            <a:r>
              <a:rPr lang="en-US" altLang="en-US" dirty="0" err="1"/>
              <a:t>cloudpickle</a:t>
            </a:r>
            <a:r>
              <a:rPr lang="en-US" altLang="en-US" dirty="0"/>
              <a:t>, dill, </a:t>
            </a:r>
            <a:r>
              <a:rPr lang="en-US" altLang="en-US" dirty="0" err="1"/>
              <a:t>stre</a:t>
            </a:r>
            <a:r>
              <a:rPr lang="en-US" dirty="0" err="1"/>
              <a:t>amlit</a:t>
            </a:r>
            <a:r>
              <a:rPr lang="en-US" dirty="0"/>
              <a:t>, </a:t>
            </a:r>
            <a:r>
              <a:rPr lang="en-US" dirty="0" err="1"/>
              <a:t>shap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77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B214-3F39-6CAF-6C8D-CAAABACE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6720"/>
            <a:ext cx="8596668" cy="1320800"/>
          </a:xfrm>
        </p:spPr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815D-CB46-4D26-5D25-2CD6D2EFC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42544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600" b="1" dirty="0"/>
              <a:t>Data Preparation</a:t>
            </a:r>
          </a:p>
          <a:p>
            <a:pPr lvl="1" fontAlgn="base"/>
            <a:r>
              <a:rPr lang="en-US" altLang="en-US" sz="1400" dirty="0"/>
              <a:t>Loaded ret</a:t>
            </a:r>
            <a:r>
              <a:rPr lang="en-US" sz="1400" dirty="0"/>
              <a:t>ail_price</a:t>
            </a:r>
            <a:r>
              <a:rPr lang="en-US" altLang="en-US" sz="1400" dirty="0"/>
              <a:t>.csv</a:t>
            </a:r>
          </a:p>
          <a:p>
            <a:pPr lvl="1" fontAlgn="base"/>
            <a:r>
              <a:rPr lang="en-US" altLang="en-US" sz="1400" dirty="0"/>
              <a:t>Ch</a:t>
            </a:r>
            <a:r>
              <a:rPr lang="en-US" sz="1400" dirty="0"/>
              <a:t>ange column name s to </a:t>
            </a:r>
            <a:r>
              <a:rPr lang="en-US" sz="1400" dirty="0" err="1"/>
              <a:t>sales_rate</a:t>
            </a:r>
            <a:r>
              <a:rPr lang="en-US" altLang="en-US" sz="1400" dirty="0"/>
              <a:t>.</a:t>
            </a:r>
          </a:p>
          <a:p>
            <a:pPr lvl="1" fontAlgn="base"/>
            <a:r>
              <a:rPr lang="en-US" altLang="en-US" sz="1400" dirty="0"/>
              <a:t>Removed irrelev</a:t>
            </a:r>
            <a:r>
              <a:rPr lang="en-US" sz="1400" dirty="0"/>
              <a:t>ant columns</a:t>
            </a:r>
            <a:r>
              <a:rPr lang="en-US" altLang="en-US" sz="1400" dirty="0"/>
              <a:t>.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IN" sz="1600" b="1" dirty="0" err="1"/>
              <a:t>Explor</a:t>
            </a:r>
            <a:r>
              <a:rPr lang="en-US" sz="1600" b="1" dirty="0" err="1"/>
              <a:t>atory</a:t>
            </a:r>
            <a:r>
              <a:rPr lang="en-US" sz="1600" b="1" dirty="0"/>
              <a:t> </a:t>
            </a:r>
            <a:r>
              <a:rPr lang="en-IN" sz="1600" b="1" dirty="0"/>
              <a:t>Data </a:t>
            </a:r>
            <a:r>
              <a:rPr lang="en-US" sz="1600" b="1" dirty="0"/>
              <a:t>Analytics</a:t>
            </a:r>
            <a:endParaRPr lang="en-IN" sz="1600" b="1" dirty="0"/>
          </a:p>
          <a:p>
            <a:pPr lvl="1"/>
            <a:r>
              <a:rPr lang="en-US" sz="1400" dirty="0"/>
              <a:t>Correlation heatmap for analyzing the factors affecting </a:t>
            </a:r>
            <a:r>
              <a:rPr lang="en-US" sz="1400" dirty="0" err="1"/>
              <a:t>lag_price</a:t>
            </a:r>
            <a:endParaRPr lang="en-US" sz="14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1600" b="1" dirty="0"/>
              <a:t>D</a:t>
            </a:r>
            <a:r>
              <a:rPr lang="en-US" sz="1600" dirty="0" err="1"/>
              <a:t>ata</a:t>
            </a:r>
            <a:r>
              <a:rPr lang="en-US" sz="1600" dirty="0"/>
              <a:t> </a:t>
            </a:r>
            <a:r>
              <a:rPr lang="en-IN" sz="1600" b="1" dirty="0"/>
              <a:t>Preprocessing</a:t>
            </a:r>
          </a:p>
          <a:p>
            <a:pPr lvl="1"/>
            <a:r>
              <a:rPr lang="en-IN" sz="1400" dirty="0"/>
              <a:t>Standardized numeric</a:t>
            </a:r>
            <a:r>
              <a:rPr lang="en-US" sz="1400" dirty="0"/>
              <a:t>al</a:t>
            </a:r>
            <a:r>
              <a:rPr lang="en-IN" sz="1400" dirty="0"/>
              <a:t> features with </a:t>
            </a:r>
            <a:r>
              <a:rPr lang="en-IN" sz="1400" dirty="0" err="1"/>
              <a:t>StandardScaler</a:t>
            </a:r>
            <a:endParaRPr lang="en-IN" sz="1400" dirty="0"/>
          </a:p>
          <a:p>
            <a:pPr lvl="1"/>
            <a:r>
              <a:rPr lang="en-IN" sz="1400" dirty="0"/>
              <a:t>Encoded </a:t>
            </a:r>
            <a:r>
              <a:rPr lang="en-US" sz="1400" dirty="0"/>
              <a:t>categorical features with </a:t>
            </a:r>
            <a:r>
              <a:rPr lang="en-US" sz="1400" dirty="0" err="1"/>
              <a:t>LabelEncoder</a:t>
            </a:r>
            <a:endParaRPr lang="en-US" sz="1400" dirty="0"/>
          </a:p>
          <a:p>
            <a:pPr lvl="1"/>
            <a:r>
              <a:rPr lang="en-IN" sz="1400" dirty="0"/>
              <a:t>Built </a:t>
            </a:r>
            <a:r>
              <a:rPr lang="en-US" sz="1400" dirty="0"/>
              <a:t>a pipeline of </a:t>
            </a:r>
            <a:r>
              <a:rPr lang="en-US" sz="1400" dirty="0" err="1"/>
              <a:t>StandardScaler</a:t>
            </a:r>
            <a:r>
              <a:rPr lang="en-US" sz="1400" dirty="0"/>
              <a:t> and </a:t>
            </a:r>
            <a:r>
              <a:rPr lang="en-US" sz="1400" dirty="0" err="1"/>
              <a:t>LabelEncoder</a:t>
            </a:r>
            <a:endParaRPr lang="en-IN" sz="14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1600" b="1" dirty="0"/>
              <a:t>Modelling and Evaluation</a:t>
            </a:r>
          </a:p>
          <a:p>
            <a:pPr lvl="1"/>
            <a:r>
              <a:rPr lang="en-IN" sz="1400" dirty="0"/>
              <a:t>Split dataset in tr</a:t>
            </a:r>
            <a:r>
              <a:rPr lang="en-US" sz="1400" dirty="0" err="1"/>
              <a:t>ained</a:t>
            </a:r>
            <a:r>
              <a:rPr lang="en-US" sz="1400" dirty="0"/>
              <a:t> and test set</a:t>
            </a:r>
          </a:p>
          <a:p>
            <a:pPr lvl="1"/>
            <a:r>
              <a:rPr lang="en-IN" sz="1400" dirty="0"/>
              <a:t>Tr</a:t>
            </a:r>
            <a:r>
              <a:rPr lang="en-US" sz="1400" dirty="0" err="1"/>
              <a:t>ained</a:t>
            </a:r>
            <a:r>
              <a:rPr lang="en-US" sz="1400" dirty="0"/>
              <a:t> different models like </a:t>
            </a:r>
            <a:r>
              <a:rPr lang="en-US" sz="1400" dirty="0" err="1"/>
              <a:t>LinearRegression</a:t>
            </a:r>
            <a:r>
              <a:rPr lang="en-US" sz="1400" dirty="0"/>
              <a:t>, </a:t>
            </a:r>
            <a:r>
              <a:rPr lang="en-US" sz="1400" dirty="0" err="1"/>
              <a:t>DecisionTree</a:t>
            </a:r>
            <a:r>
              <a:rPr lang="en-US" sz="1400" dirty="0"/>
              <a:t> etc. with hyperparameter tuning.</a:t>
            </a:r>
          </a:p>
          <a:p>
            <a:pPr lvl="1"/>
            <a:r>
              <a:rPr lang="en-US" sz="1400" dirty="0"/>
              <a:t>Evaluated models with Mean Absolute Error, Root Mean Squared Error and R2 Score</a:t>
            </a:r>
          </a:p>
          <a:p>
            <a:pPr lvl="1"/>
            <a:r>
              <a:rPr lang="en-US" sz="1400" dirty="0"/>
              <a:t>Final model selected by maximum R2 Score, then trained with full dataset and saved the pipeline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b="1" dirty="0" err="1"/>
              <a:t>Streamlit</a:t>
            </a:r>
            <a:r>
              <a:rPr lang="en-IN" sz="1600" b="1" dirty="0"/>
              <a:t> app interface</a:t>
            </a:r>
          </a:p>
          <a:p>
            <a:pPr lvl="1"/>
            <a:r>
              <a:rPr lang="en-IN" sz="1400" dirty="0"/>
              <a:t>Built an interactive app interface using </a:t>
            </a:r>
            <a:r>
              <a:rPr lang="en-IN" sz="1400" dirty="0" err="1"/>
              <a:t>streamlit</a:t>
            </a:r>
            <a:r>
              <a:rPr lang="en-IN" sz="1400" dirty="0"/>
              <a:t>.</a:t>
            </a:r>
          </a:p>
          <a:p>
            <a:pPr lvl="1"/>
            <a:r>
              <a:rPr lang="en-IN" sz="1400" dirty="0"/>
              <a:t>Takes data </a:t>
            </a:r>
            <a:r>
              <a:rPr lang="en-US" sz="1400" dirty="0"/>
              <a:t>and predicts </a:t>
            </a:r>
            <a:r>
              <a:rPr lang="en-US" sz="1400" dirty="0" err="1"/>
              <a:t>lag_price</a:t>
            </a:r>
            <a:r>
              <a:rPr lang="en-US" sz="1400" dirty="0"/>
              <a:t> with </a:t>
            </a:r>
            <a:r>
              <a:rPr lang="en-US" sz="1400" dirty="0" err="1"/>
              <a:t>explaination</a:t>
            </a:r>
            <a:r>
              <a:rPr lang="en-US" sz="1400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6560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F897-DF03-CDD3-5ECA-E91A14C7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4690D-18A6-E6ED-E55C-DE68BA79D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3519"/>
            <a:ext cx="8596668" cy="4547843"/>
          </a:xfrm>
        </p:spPr>
        <p:txBody>
          <a:bodyPr/>
          <a:lstStyle/>
          <a:p>
            <a:r>
              <a:rPr lang="en-US" dirty="0"/>
              <a:t>Best model:  </a:t>
            </a:r>
            <a:r>
              <a:rPr lang="en-US" dirty="0" err="1"/>
              <a:t>CatBoost</a:t>
            </a:r>
            <a:endParaRPr lang="en-US" dirty="0"/>
          </a:p>
          <a:p>
            <a:r>
              <a:rPr lang="en-US" dirty="0"/>
              <a:t>Mean Absolute Error: 8.887258458025372</a:t>
            </a:r>
          </a:p>
          <a:p>
            <a:r>
              <a:rPr lang="en-US" dirty="0"/>
              <a:t>Root Mean Absolute Error: 11.012054795145996</a:t>
            </a:r>
          </a:p>
          <a:p>
            <a:r>
              <a:rPr lang="en-US" dirty="0"/>
              <a:t>R2 score: 0.978578032144269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80B952-C958-1097-D795-C18CC90F8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646" y="3213474"/>
            <a:ext cx="5845394" cy="312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74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389FA-2C84-23DD-677B-00715E3A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Absolute Error Comparison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8E7FA8-3CD5-F137-B925-3B32D66CC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143" y="1585912"/>
            <a:ext cx="53530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8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CD10-6C33-225C-AB3D-2419A2C5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06CA-2C9F-6C98-7DD7-7C319571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Mean S</a:t>
            </a:r>
            <a:r>
              <a:rPr lang="en-US" altLang="en-US" dirty="0"/>
              <a:t>q</a:t>
            </a:r>
            <a:r>
              <a:rPr lang="en-US" dirty="0"/>
              <a:t>uare Error Comparison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A1357-ADF5-BF8A-6B57-07751B60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468" y="1494472"/>
            <a:ext cx="54864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4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52AE-F3F1-45FC-632D-8D5CAE3E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C68E-158C-030C-DFA2-FF12B246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R2 Score Comparison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95B62E-12CB-DB81-D898-118AB3C30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30" y="1474152"/>
            <a:ext cx="54006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4B869-411A-CE34-4FD4-32E06ADA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App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1D0CEB1-D125-116C-A3E2-29C2CFAF8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647266"/>
            <a:ext cx="4184035" cy="3880772"/>
          </a:xfrm>
        </p:spPr>
        <p:txBody>
          <a:bodyPr/>
          <a:lstStyle/>
          <a:p>
            <a:r>
              <a:rPr lang="en-US" dirty="0"/>
              <a:t>Project link: </a:t>
            </a:r>
            <a:r>
              <a:rPr lang="en-US" dirty="0">
                <a:hlinkClick r:id="rId3"/>
              </a:rPr>
              <a:t>pritam2005das/Retail-Price-Predictor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Try it live: </a:t>
            </a:r>
            <a:r>
              <a:rPr lang="en-US" dirty="0">
                <a:hlinkClick r:id="rId4"/>
              </a:rPr>
              <a:t>Retail Price Predictor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4B4362-7EBC-9108-8BD6-C76BD8AE2C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556" y="1647266"/>
            <a:ext cx="2121079" cy="414534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4C0965-8352-297E-AEF5-42258BB66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822" y="1647266"/>
            <a:ext cx="1857179" cy="41453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A63735-82CB-1E24-DC32-8DC6040072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013" y="2408419"/>
            <a:ext cx="1334277" cy="1320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B97230-7F88-1FB3-C722-C57EF6604C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013" y="4446247"/>
            <a:ext cx="1327751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6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48A9-F732-10B5-D258-F94C7E5E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502E-7063-FF4A-E785-37C2EB128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2880"/>
            <a:ext cx="8596668" cy="4588482"/>
          </a:xfrm>
        </p:spPr>
        <p:txBody>
          <a:bodyPr>
            <a:normAutofit/>
          </a:bodyPr>
          <a:lstStyle/>
          <a:p>
            <a:pPr lvl="0" fontAlgn="base"/>
            <a:r>
              <a:rPr lang="en-US" dirty="0"/>
              <a:t>Performed extensive data preprocessing and feature engineering on the retail dataset to prepare key variables such as product attributes, competitor pricing, and temporal factors for modeling.</a:t>
            </a:r>
          </a:p>
          <a:p>
            <a:pPr lvl="0" fontAlgn="base"/>
            <a:r>
              <a:rPr lang="en-US" dirty="0"/>
              <a:t>Developed and trained machine learning models, evaluating multiple regression algorithms to accurately predict optimal retail prices based on market and product conditions.</a:t>
            </a:r>
            <a:endParaRPr lang="en-US" altLang="en-US" dirty="0"/>
          </a:p>
          <a:p>
            <a:pPr lvl="0" fontAlgn="base"/>
            <a:r>
              <a:rPr lang="en-US" dirty="0"/>
              <a:t>Implemented an interactive </a:t>
            </a:r>
            <a:r>
              <a:rPr lang="en-US" b="1" dirty="0" err="1"/>
              <a:t>Streamlit</a:t>
            </a:r>
            <a:r>
              <a:rPr lang="en-US" b="1" dirty="0"/>
              <a:t> web application</a:t>
            </a:r>
            <a:r>
              <a:rPr lang="en-US" dirty="0"/>
              <a:t> that allows users to input store and competitor details, generate real-time price predictions, and interpret results using SHAP explainability.</a:t>
            </a:r>
            <a:endParaRPr lang="en-US" altLang="en-US" dirty="0"/>
          </a:p>
          <a:p>
            <a:pPr lvl="0" fontAlgn="base"/>
            <a:r>
              <a:rPr lang="en-US" dirty="0"/>
              <a:t>Created a </a:t>
            </a:r>
            <a:r>
              <a:rPr lang="en-US" b="1" dirty="0"/>
              <a:t>Power BI dashboard</a:t>
            </a:r>
            <a:r>
              <a:rPr lang="en-US" dirty="0"/>
              <a:t> to visualize pricing trends, competitor comparisons, and model-driven insights for decision-making support.</a:t>
            </a:r>
          </a:p>
          <a:p>
            <a:pPr lvl="0" fontAlgn="base"/>
            <a:r>
              <a:rPr lang="en-US" dirty="0"/>
              <a:t>The project demonstrates how </a:t>
            </a:r>
            <a:r>
              <a:rPr lang="en-US" b="1" dirty="0"/>
              <a:t>machine learning and interactive analytics</a:t>
            </a:r>
            <a:r>
              <a:rPr lang="en-US" dirty="0"/>
              <a:t> can enable </a:t>
            </a:r>
            <a:r>
              <a:rPr lang="en-US" b="1" dirty="0"/>
              <a:t>data-driven price optimization</a:t>
            </a:r>
            <a:r>
              <a:rPr lang="en-US" dirty="0"/>
              <a:t>, improving profitability, competitiveness, and strategic pricing efficiency in retail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494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B0BC-6CA8-CAED-01A5-72075554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135C9-B2EB-7341-B784-30D969B7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7040"/>
            <a:ext cx="8596668" cy="478536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b="1" dirty="0"/>
              <a:t>Model Enhancement:</a:t>
            </a:r>
            <a:r>
              <a:rPr lang="en-US" dirty="0"/>
              <a:t> Integrate advanced deep learning models such as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or Neural Networks to better capture complex nonlinear relationships between price, demand, and competitor behavior.</a:t>
            </a:r>
          </a:p>
          <a:p>
            <a:pPr fontAlgn="base"/>
            <a:r>
              <a:rPr lang="en-US" b="1" dirty="0"/>
              <a:t>Dynamic Pricing Automation:</a:t>
            </a:r>
            <a:r>
              <a:rPr lang="en-US" dirty="0"/>
              <a:t> Deploy a real-time dynamic pricing engine that automatically adjusts product prices based on demand forecasts, competitor movements, and inventory levels.</a:t>
            </a:r>
          </a:p>
          <a:p>
            <a:pPr fontAlgn="base"/>
            <a:r>
              <a:rPr lang="en-US" b="1" dirty="0"/>
              <a:t>Expanded Data Integration:</a:t>
            </a:r>
            <a:r>
              <a:rPr lang="en-US" dirty="0"/>
              <a:t> Incorporate external datasets such as economic indicators, seasonal trends, and customer sentiment data from social media to improve prediction accuracy.</a:t>
            </a:r>
          </a:p>
          <a:p>
            <a:pPr fontAlgn="base"/>
            <a:r>
              <a:rPr lang="en-US" b="1" dirty="0"/>
              <a:t>Real-Time Deployment:</a:t>
            </a:r>
            <a:r>
              <a:rPr lang="en-US" dirty="0"/>
              <a:t> Host the predictive model as an API for live retail systems, enabling automated and adaptive pricing recommendations across multiple sales channels.</a:t>
            </a:r>
          </a:p>
          <a:p>
            <a:pPr fontAlgn="base"/>
            <a:r>
              <a:rPr lang="en-US" b="1" dirty="0"/>
              <a:t>Cross-Category Scalability:</a:t>
            </a:r>
            <a:r>
              <a:rPr lang="en-US" dirty="0"/>
              <a:t> Extend the model to handle multiple product categories and store types, ensuring scalability across different retail segments.</a:t>
            </a:r>
          </a:p>
          <a:p>
            <a:pPr fontAlgn="base"/>
            <a:r>
              <a:rPr lang="en-US" b="1" dirty="0"/>
              <a:t>Enhanced Visualization:</a:t>
            </a:r>
            <a:r>
              <a:rPr lang="en-US" dirty="0"/>
              <a:t> Upgrade the Power BI dashboard with “what-if” scenario analysis, elasticity simulation, and revenue optimization insights to support strategic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043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7662-CB75-1BD8-C3CE-A221C62E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51DC-9BEF-8257-D448-56740B438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323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itchFamily="18" charset="0"/>
              </a:rPr>
              <a:t>Please give me feedback of my project.</a:t>
            </a:r>
          </a:p>
          <a:p>
            <a:pPr marL="0" indent="0">
              <a:buNone/>
            </a:pPr>
            <a:r>
              <a:rPr lang="en-US" dirty="0">
                <a:cs typeface="Times New Roman" pitchFamily="18" charset="0"/>
              </a:rPr>
              <a:t>Your feedback will encourage and motivate me.</a:t>
            </a:r>
          </a:p>
          <a:p>
            <a:pPr marL="0" indent="0">
              <a:buNone/>
            </a:pP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  <a:hlinkClick r:id="rId2"/>
              </a:rPr>
              <a:t>Click here for feedback form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EB3CD-8001-0C47-4CA6-877C58873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174" y="2896423"/>
            <a:ext cx="2746230" cy="273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37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022644-6A63-675E-AF52-46224A44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4" y="2486660"/>
            <a:ext cx="8596668" cy="188468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		</a:t>
            </a:r>
            <a:br>
              <a:rPr lang="en-US" sz="5400" dirty="0"/>
            </a:br>
            <a:r>
              <a:rPr lang="en-US" sz="5400" dirty="0"/>
              <a:t>		you..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8389360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426</TotalTime>
  <Words>873</Words>
  <Application>Microsoft Office PowerPoint</Application>
  <PresentationFormat>Widescreen</PresentationFormat>
  <Paragraphs>106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Retain Price Prediction</vt:lpstr>
      <vt:lpstr>Index</vt:lpstr>
      <vt:lpstr>Objective</vt:lpstr>
      <vt:lpstr>Data Source</vt:lpstr>
      <vt:lpstr>Technologies used</vt:lpstr>
      <vt:lpstr>Methodology</vt:lpstr>
      <vt:lpstr>Model Performance</vt:lpstr>
      <vt:lpstr>Mean Absolute Error Comparison</vt:lpstr>
      <vt:lpstr>Root Mean Square Error Comparison</vt:lpstr>
      <vt:lpstr>R2 Score Comparison</vt:lpstr>
      <vt:lpstr>Streamlit App</vt:lpstr>
      <vt:lpstr>Conclusion </vt:lpstr>
      <vt:lpstr>Future Scope</vt:lpstr>
      <vt:lpstr>Feedback</vt:lpstr>
      <vt:lpstr>Thank    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Pritam Das</dc:creator>
  <cp:lastModifiedBy>Pritam Das</cp:lastModifiedBy>
  <cp:revision>8</cp:revision>
  <dcterms:created xsi:type="dcterms:W3CDTF">2025-09-26T14:10:59Z</dcterms:created>
  <dcterms:modified xsi:type="dcterms:W3CDTF">2025-11-13T13:50:47Z</dcterms:modified>
</cp:coreProperties>
</file>